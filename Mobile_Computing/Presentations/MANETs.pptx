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0"/>
  </p:notesMasterIdLst>
  <p:sldIdLst>
    <p:sldId id="256" r:id="rId2"/>
    <p:sldId id="289" r:id="rId3"/>
    <p:sldId id="257" r:id="rId4"/>
    <p:sldId id="258" r:id="rId5"/>
    <p:sldId id="262" r:id="rId6"/>
    <p:sldId id="261" r:id="rId7"/>
    <p:sldId id="263" r:id="rId8"/>
    <p:sldId id="265" r:id="rId9"/>
    <p:sldId id="264" r:id="rId10"/>
    <p:sldId id="266" r:id="rId11"/>
    <p:sldId id="267" r:id="rId12"/>
    <p:sldId id="268" r:id="rId13"/>
    <p:sldId id="278" r:id="rId14"/>
    <p:sldId id="269" r:id="rId15"/>
    <p:sldId id="270" r:id="rId16"/>
    <p:sldId id="274" r:id="rId17"/>
    <p:sldId id="275" r:id="rId18"/>
    <p:sldId id="280" r:id="rId19"/>
    <p:sldId id="281" r:id="rId20"/>
    <p:sldId id="282" r:id="rId21"/>
    <p:sldId id="283" r:id="rId22"/>
    <p:sldId id="285" r:id="rId23"/>
    <p:sldId id="286" r:id="rId24"/>
    <p:sldId id="287" r:id="rId25"/>
    <p:sldId id="276" r:id="rId26"/>
    <p:sldId id="279" r:id="rId27"/>
    <p:sldId id="277" r:id="rId28"/>
    <p:sldId id="28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0144" autoAdjust="0"/>
  </p:normalViewPr>
  <p:slideViewPr>
    <p:cSldViewPr>
      <p:cViewPr varScale="1">
        <p:scale>
          <a:sx n="74" d="100"/>
          <a:sy n="74" d="100"/>
        </p:scale>
        <p:origin x="237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EDEDE-8A64-41AB-B093-595DC7C7221F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EA2DA-D66D-415A-A3F1-4EA80685415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11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2310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2219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4603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aseline="0" dirty="0" smtClean="0"/>
          </a:p>
          <a:p>
            <a:r>
              <a:rPr lang="en-CA" baseline="0" dirty="0" smtClean="0"/>
              <a:t>mobile ad hoc networks are self-organizing network of mobile nodes that use wireless links to form a network. </a:t>
            </a:r>
          </a:p>
          <a:p>
            <a:r>
              <a:rPr lang="en-CA" baseline="0" dirty="0" smtClean="0"/>
              <a:t>This network is a temporarily network that can be formed or destroyed anytime. </a:t>
            </a:r>
          </a:p>
          <a:p>
            <a:endParaRPr lang="en-CA" baseline="0" dirty="0" smtClean="0"/>
          </a:p>
          <a:p>
            <a:r>
              <a:rPr lang="en-CA" baseline="0" dirty="0" smtClean="0"/>
              <a:t>These network formed dynamically and share common wireless links. </a:t>
            </a:r>
          </a:p>
          <a:p>
            <a:r>
              <a:rPr lang="en-CA" baseline="0" dirty="0" smtClean="0"/>
              <a:t>As in tradition networks there is not basic fixed structure. There is not central </a:t>
            </a:r>
            <a:r>
              <a:rPr lang="en-CA" baseline="0" dirty="0" err="1" smtClean="0"/>
              <a:t>enetry</a:t>
            </a:r>
            <a:r>
              <a:rPr lang="en-CA" baseline="0" dirty="0" smtClean="0"/>
              <a:t> to </a:t>
            </a:r>
            <a:r>
              <a:rPr lang="en-CA" baseline="0" dirty="0" err="1" smtClean="0"/>
              <a:t>contol</a:t>
            </a:r>
            <a:r>
              <a:rPr lang="en-CA" baseline="0" dirty="0" smtClean="0"/>
              <a:t> </a:t>
            </a:r>
            <a:r>
              <a:rPr lang="en-CA" baseline="0" dirty="0" err="1" smtClean="0"/>
              <a:t>te</a:t>
            </a:r>
            <a:r>
              <a:rPr lang="en-CA" baseline="0" dirty="0" smtClean="0"/>
              <a:t> </a:t>
            </a:r>
            <a:r>
              <a:rPr lang="en-CA" baseline="0" dirty="0" err="1" smtClean="0"/>
              <a:t>opration</a:t>
            </a:r>
            <a:r>
              <a:rPr lang="en-CA" baseline="0" dirty="0" smtClean="0"/>
              <a:t> of the networks. </a:t>
            </a:r>
          </a:p>
          <a:p>
            <a:r>
              <a:rPr lang="en-CA" baseline="0" dirty="0" smtClean="0"/>
              <a:t>Nodes are free to move randomly and can leave or join the network on the fly. </a:t>
            </a:r>
          </a:p>
          <a:p>
            <a:endParaRPr lang="en-CA" baseline="0" dirty="0" smtClean="0"/>
          </a:p>
          <a:p>
            <a:endParaRPr lang="en-CA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645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5692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Because ad hoc networks are flexible networks that can be set up anywhere at any time,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Without infrastructure, administration. There are lots of applications of MANETs. 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MANETS  have primarily been used for tactical related applications to improve battlefield communications. 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Mantes can also be used in emergency situations like earthquake, hurricanes, fire etc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Where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infrastructure is destroyed. 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can be used for retrieval and transmission of patient data from/to hospital. Can also be used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a replacement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fixed infrastructure in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emergency situations. </a:t>
            </a:r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be used for educational purposed for example creating virtual classrooms, campus communication, conferences or creating ad hoc networks 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Manets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 be also used for entertainment and in other home networks.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Uses include home/office wireless networking where it could be used with existing internet infrastructure. 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useful applications include personal area network, multiuser gaming and outdoor internet access. 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HHistorically,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mobile ad hoc networks have primarily been used for tactical network-related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improve battlefield communications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survivability.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dynamic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nature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military operations means it is not possible to rely on access to a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fixed replaced</a:t>
            </a:r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 on the battlefield.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8275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 hoc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networks do not have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fixed infrastructure. All the modes in the ad hoc network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multihop. </a:t>
            </a:r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brings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channels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including how to manage nodes. 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nodes are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wireless links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communicate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Eat the pie</a:t>
            </a:r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CA" sz="1200" b="1" i="1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1.3.3.1. They are Infrastructure less.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Mobile ad hoc networks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multihop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 less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Wireless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networks. This lack of fixed infrastructure in addition to being wireless,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 design issues compared with fixed networks. Also, lack of a centralized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network management has to be distributed across different nodes, which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Brings an added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difficulty in fault detection and management.</a:t>
            </a:r>
          </a:p>
          <a:p>
            <a:r>
              <a:rPr lang="en-CA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1.3.3.2. Dynamically Changing Network Topologies.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mobile ad hoc networks,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Since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nodes can move arbitrarily, the network topology, which is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typically multihop,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frequently and unpredictably, resulting in route changes, frequent network partitions,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And,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possibly, packet losses [12, 36].</a:t>
            </a:r>
          </a:p>
          <a:p>
            <a:r>
              <a:rPr lang="en-CA" sz="1200" b="1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1.3.3.3. Physical Layer Limitation.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radio interface at each node uses broadcasting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transmitting traffic and usually has limited wireless transmission range, resulting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 mobile ad hoc network problems like hidden terminal problems, exposed terminal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Problem,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so on. Collisions are inherent to the medium, and there is a higher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Probability of packet losses due to transmission errors compared to wire-line systems.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778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Issues associated with each layer. Since</a:t>
            </a:r>
            <a:r>
              <a:rPr lang="en-CA" baseline="0" dirty="0" smtClean="0"/>
              <a:t> there are  central managements and fixed infrastructure our communication protocol stack face different challenges. </a:t>
            </a:r>
          </a:p>
          <a:p>
            <a:endParaRPr lang="en-CA" baseline="0" dirty="0" smtClean="0"/>
          </a:p>
          <a:p>
            <a:r>
              <a:rPr lang="en-CA" baseline="0" dirty="0" smtClean="0"/>
              <a:t>At application layer: - new kind of application required due to the network structure, new authentication and encryption methods required. </a:t>
            </a:r>
          </a:p>
          <a:p>
            <a:r>
              <a:rPr lang="en-CA" baseline="0" dirty="0" smtClean="0"/>
              <a:t>For transport layer : - since there is not central management of the nodes so issues related to congestion control, flow control </a:t>
            </a:r>
            <a:r>
              <a:rPr lang="en-CA" baseline="0" dirty="0" err="1" smtClean="0"/>
              <a:t>etc</a:t>
            </a:r>
            <a:r>
              <a:rPr lang="en-CA" baseline="0" dirty="0" smtClean="0"/>
              <a:t> needs to be address.</a:t>
            </a:r>
          </a:p>
          <a:p>
            <a:r>
              <a:rPr lang="en-CA" baseline="0" dirty="0" smtClean="0"/>
              <a:t>At the network layer new types of protocols will be required.</a:t>
            </a:r>
          </a:p>
          <a:p>
            <a:r>
              <a:rPr lang="en-CA" baseline="0" dirty="0" smtClean="0"/>
              <a:t>A new media access techniques will be required as we will see in further slides. </a:t>
            </a:r>
          </a:p>
          <a:p>
            <a:r>
              <a:rPr lang="en-CA" dirty="0" smtClean="0"/>
              <a:t>At the physical</a:t>
            </a:r>
            <a:r>
              <a:rPr lang="en-CA" baseline="0" dirty="0" smtClean="0"/>
              <a:t> lever different wireless link related issues needs to address for example spectrum usage, </a:t>
            </a:r>
            <a:r>
              <a:rPr lang="en-CA" baseline="0" dirty="0" err="1" smtClean="0"/>
              <a:t>aloocation</a:t>
            </a:r>
            <a:r>
              <a:rPr lang="en-CA" baseline="0" dirty="0" smtClean="0"/>
              <a:t> of spectrum etc.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294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Mobile ad hoc networks use</a:t>
            </a:r>
            <a:r>
              <a:rPr lang="en-CA" baseline="0" dirty="0" smtClean="0"/>
              <a:t> broadcast by nature. </a:t>
            </a:r>
          </a:p>
          <a:p>
            <a:r>
              <a:rPr lang="en-CA" dirty="0" smtClean="0"/>
              <a:t>The wireless process</a:t>
            </a:r>
            <a:r>
              <a:rPr lang="en-CA" baseline="0" dirty="0" smtClean="0"/>
              <a:t> uses half duplex transmission. </a:t>
            </a:r>
          </a:p>
          <a:p>
            <a:r>
              <a:rPr lang="en-CA" baseline="0" dirty="0" smtClean="0"/>
              <a:t>And </a:t>
            </a:r>
            <a:r>
              <a:rPr lang="en-CA" baseline="0" dirty="0" err="1" smtClean="0"/>
              <a:t>slll</a:t>
            </a:r>
            <a:r>
              <a:rPr lang="en-CA" baseline="0" dirty="0" smtClean="0"/>
              <a:t> node share the same media therefore </a:t>
            </a:r>
            <a:r>
              <a:rPr lang="en-CA" baseline="0" dirty="0" err="1" smtClean="0"/>
              <a:t>collion</a:t>
            </a:r>
            <a:r>
              <a:rPr lang="en-CA" baseline="0" dirty="0" smtClean="0"/>
              <a:t> can </a:t>
            </a:r>
            <a:r>
              <a:rPr lang="en-CA" baseline="0" dirty="0" err="1" smtClean="0"/>
              <a:t>accure</a:t>
            </a:r>
            <a:r>
              <a:rPr lang="en-CA" baseline="0" dirty="0" smtClean="0"/>
              <a:t>. This is different from the LAN or </a:t>
            </a:r>
            <a:r>
              <a:rPr lang="en-CA" baseline="0" dirty="0" err="1" smtClean="0"/>
              <a:t>Wlan</a:t>
            </a:r>
            <a:r>
              <a:rPr lang="en-CA" baseline="0" dirty="0" smtClean="0"/>
              <a:t>. Because the other collision detection system will not work properly. </a:t>
            </a:r>
          </a:p>
          <a:p>
            <a:r>
              <a:rPr lang="en-CA" baseline="0" dirty="0" smtClean="0"/>
              <a:t>A new type of </a:t>
            </a:r>
            <a:r>
              <a:rPr lang="en-CA" baseline="0" dirty="0" err="1" smtClean="0"/>
              <a:t>congesion</a:t>
            </a:r>
            <a:r>
              <a:rPr lang="en-CA" baseline="0" dirty="0" smtClean="0"/>
              <a:t> control protocol required. </a:t>
            </a:r>
          </a:p>
          <a:p>
            <a:endParaRPr lang="en-CA" baseline="0" dirty="0" smtClean="0"/>
          </a:p>
          <a:p>
            <a:endParaRPr lang="en-CA" baseline="0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7919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584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exposed-terminal problem results from situations in which a permissible transmission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 mobile station (sender) to another station has to be delayed due to the irrelevant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transmission activity between two other mobile stations within sender’s transmission range.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Depicts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typical scenario in which the exposed-terminal problem may occur.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us assume that terminals A and C can hear transmissions from B, but terminal A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Cannot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 transmissions from C. Let us also assume that terminal B is transmitting to</a:t>
            </a:r>
          </a:p>
          <a:p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Terminal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A, and terminal </a:t>
            </a:r>
            <a:r>
              <a:rPr lang="en-CA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have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frame to be transmitted to D. According to the CSMA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scheme, C senses the medium and finds it busy because of B’s transmission, and, therefore,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refrains from transmitting to D, although this transmission would not cause a collision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A. The exposed-terminal problem may thus result in loss of throughput.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6334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/>
              <a:t>The early access protocol such CSMA/CD</a:t>
            </a:r>
            <a:r>
              <a:rPr lang="en-CA" baseline="0" dirty="0" smtClean="0"/>
              <a:t> does not work properly.</a:t>
            </a:r>
            <a:r>
              <a:rPr lang="en-CA" dirty="0" smtClean="0"/>
              <a:t> </a:t>
            </a:r>
          </a:p>
          <a:p>
            <a:r>
              <a:rPr lang="en-CA" dirty="0" smtClean="0"/>
              <a:t>A new algorithm is used MACA</a:t>
            </a:r>
            <a:r>
              <a:rPr lang="en-CA" baseline="0" dirty="0" smtClean="0"/>
              <a:t> (Multiple access with collision </a:t>
            </a:r>
            <a:r>
              <a:rPr lang="en-CA" baseline="0" dirty="0" err="1" smtClean="0"/>
              <a:t>avoidence</a:t>
            </a:r>
            <a:r>
              <a:rPr lang="en-CA" baseline="0" dirty="0" smtClean="0"/>
              <a:t>).</a:t>
            </a:r>
          </a:p>
          <a:p>
            <a:endParaRPr lang="en-CA" baseline="0" dirty="0" smtClean="0"/>
          </a:p>
          <a:p>
            <a:r>
              <a:rPr lang="en-CA" baseline="0" dirty="0" smtClean="0"/>
              <a:t>The key ideas behind these protocols invoke sending RTS (Request to send ) and CTS (Clear To Send) packets before the data transmission has </a:t>
            </a:r>
            <a:r>
              <a:rPr lang="en-CA" baseline="0" dirty="0" err="1" smtClean="0"/>
              <a:t>actully</a:t>
            </a:r>
            <a:r>
              <a:rPr lang="en-CA" baseline="0" dirty="0" smtClean="0"/>
              <a:t> taken place. What a node wished to transmit a packet to a neighbour, it first transmits a RTS </a:t>
            </a:r>
            <a:r>
              <a:rPr lang="en-CA" baseline="0" dirty="0" err="1" smtClean="0"/>
              <a:t>oacket</a:t>
            </a:r>
            <a:r>
              <a:rPr lang="en-CA" baseline="0" dirty="0" smtClean="0"/>
              <a:t>. The </a:t>
            </a:r>
            <a:r>
              <a:rPr lang="en-CA" baseline="0" dirty="0" err="1" smtClean="0"/>
              <a:t>reciever</a:t>
            </a:r>
            <a:r>
              <a:rPr lang="en-CA" baseline="0" dirty="0" smtClean="0"/>
              <a:t> then consents to the communication by replying with CTS packet. On hearing the CTS, the sender can transmit its data packet.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6001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Mobile nodes operate as routers, forwarding packets for other mobile nodes that may not be within direct wireless transmission range.</a:t>
            </a:r>
          </a:p>
          <a:p>
            <a:r>
              <a:rPr lang="en-US" dirty="0" smtClean="0"/>
              <a:t>Mobile nodes participate in an ad hoc routing protocol to discover ‘multi-hop’ paths through the network to any other node.</a:t>
            </a:r>
          </a:p>
          <a:p>
            <a:endParaRPr lang="en-CA" dirty="0" smtClean="0"/>
          </a:p>
          <a:p>
            <a:r>
              <a:rPr lang="en-US" dirty="0" smtClean="0"/>
              <a:t>DV – Distributed Bellman-Ford (DBF), Routing Information Protocol (RIP)</a:t>
            </a:r>
          </a:p>
          <a:p>
            <a:r>
              <a:rPr lang="en-US" dirty="0" smtClean="0"/>
              <a:t>Hop-by-hop DV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Proactive: table driven; continuously evaluates routes; no latency in route discovery; periodic control messages needed; large network capacity to keep information up-to-date; most routing info may never be used</a:t>
            </a:r>
          </a:p>
          <a:p>
            <a:endParaRPr lang="en-US" dirty="0" smtClean="0"/>
          </a:p>
          <a:p>
            <a:r>
              <a:rPr lang="en-US" dirty="0" smtClean="0"/>
              <a:t>Reactive: on demand; route discovery by global search; drawback-latency of route discovery; may not be appropriate for real time communication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Each route is tagged with a sequence number originated by destination so nodes can quickly distinguish stale routes from new ones and avoid formation of routing loops.</a:t>
            </a:r>
          </a:p>
          <a:p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Many</a:t>
            </a:r>
            <a:r>
              <a:rPr lang="en-CA" baseline="0" dirty="0" smtClean="0"/>
              <a:t> different protocols have be proposed for unicasting routing protocols </a:t>
            </a:r>
          </a:p>
          <a:p>
            <a:r>
              <a:rPr lang="en-CA" baseline="0" dirty="0" smtClean="0"/>
              <a:t>Some specifically invented for MANET and other are adopted from wired networks. No single protocol works well in all </a:t>
            </a:r>
            <a:r>
              <a:rPr lang="en-CA" baseline="0" dirty="0" err="1" smtClean="0"/>
              <a:t>evviourments</a:t>
            </a:r>
            <a:r>
              <a:rPr lang="en-CA" baseline="0" dirty="0" smtClean="0"/>
              <a:t>. </a:t>
            </a:r>
          </a:p>
          <a:p>
            <a:endParaRPr lang="en-CA" baseline="0" dirty="0" smtClean="0"/>
          </a:p>
          <a:p>
            <a:r>
              <a:rPr lang="en-CA" baseline="0" dirty="0" smtClean="0"/>
              <a:t>Due to dynamic nature of mobile ad hoc networks results in frequent changes and unpredictability in network topologies, adds difficult and complexity to routing among the nodes.</a:t>
            </a:r>
          </a:p>
          <a:p>
            <a:r>
              <a:rPr lang="en-CA" baseline="0" dirty="0" smtClean="0"/>
              <a:t>Those complexity and </a:t>
            </a:r>
            <a:r>
              <a:rPr lang="en-CA" baseline="0" dirty="0" err="1" smtClean="0"/>
              <a:t>importence</a:t>
            </a:r>
            <a:r>
              <a:rPr lang="en-CA" baseline="0" dirty="0" smtClean="0"/>
              <a:t> of </a:t>
            </a:r>
            <a:r>
              <a:rPr lang="en-CA" baseline="0" dirty="0" err="1" smtClean="0"/>
              <a:t>routin</a:t>
            </a:r>
            <a:r>
              <a:rPr lang="en-CA" baseline="0" dirty="0" smtClean="0"/>
              <a:t> make the routing are most active </a:t>
            </a:r>
          </a:p>
          <a:p>
            <a:endParaRPr lang="en-CA" baseline="0" dirty="0" smtClean="0"/>
          </a:p>
          <a:p>
            <a:r>
              <a:rPr lang="en-CA" baseline="0" dirty="0" smtClean="0"/>
              <a:t>The primary </a:t>
            </a:r>
            <a:r>
              <a:rPr lang="en-CA" baseline="0" dirty="0" err="1" smtClean="0"/>
              <a:t>objactive</a:t>
            </a:r>
            <a:r>
              <a:rPr lang="en-CA" baseline="0" dirty="0" smtClean="0"/>
              <a:t> of routing </a:t>
            </a:r>
            <a:r>
              <a:rPr lang="en-CA" baseline="0" dirty="0" err="1" smtClean="0"/>
              <a:t>proticols</a:t>
            </a:r>
            <a:r>
              <a:rPr lang="en-CA" baseline="0" dirty="0" smtClean="0"/>
              <a:t> us to </a:t>
            </a:r>
            <a:r>
              <a:rPr lang="en-CA" baseline="0" dirty="0" err="1" smtClean="0"/>
              <a:t>correnct</a:t>
            </a:r>
            <a:r>
              <a:rPr lang="en-CA" baseline="0" dirty="0" smtClean="0"/>
              <a:t> and </a:t>
            </a:r>
            <a:r>
              <a:rPr lang="en-CA" baseline="0" dirty="0" err="1" smtClean="0"/>
              <a:t>efficent</a:t>
            </a:r>
            <a:r>
              <a:rPr lang="en-CA" baseline="0" dirty="0" smtClean="0"/>
              <a:t> route establishment between a pair of nodes so that message may be delivered reliably and in a timely manner. </a:t>
            </a:r>
          </a:p>
          <a:p>
            <a:r>
              <a:rPr lang="en-CA" baseline="0" dirty="0" smtClean="0"/>
              <a:t>Route </a:t>
            </a:r>
            <a:r>
              <a:rPr lang="en-CA" baseline="0" dirty="0" err="1" smtClean="0"/>
              <a:t>contruction</a:t>
            </a:r>
            <a:r>
              <a:rPr lang="en-CA" baseline="0" dirty="0" smtClean="0"/>
              <a:t> </a:t>
            </a:r>
            <a:r>
              <a:rPr lang="en-CA" baseline="0" dirty="0" err="1" smtClean="0"/>
              <a:t>sould</a:t>
            </a:r>
            <a:r>
              <a:rPr lang="en-CA" baseline="0" dirty="0" smtClean="0"/>
              <a:t> be dome with minimum overhead bandwidth consumption. </a:t>
            </a:r>
          </a:p>
          <a:p>
            <a:endParaRPr lang="en-CA" baseline="0" dirty="0" smtClean="0"/>
          </a:p>
          <a:p>
            <a:r>
              <a:rPr lang="en-CA" baseline="0" dirty="0" smtClean="0"/>
              <a:t>Existing distance-vector and link-state-based routing protocols are designed for static </a:t>
            </a:r>
            <a:r>
              <a:rPr lang="en-CA" baseline="0" dirty="0" err="1" smtClean="0"/>
              <a:t>enviourments</a:t>
            </a:r>
            <a:r>
              <a:rPr lang="en-CA" baseline="0" dirty="0" smtClean="0"/>
              <a:t>, resulting in degradation in performance, including slow route static </a:t>
            </a:r>
            <a:r>
              <a:rPr lang="en-CA" baseline="0" dirty="0" err="1" smtClean="0"/>
              <a:t>enviourment</a:t>
            </a:r>
            <a:r>
              <a:rPr lang="en-CA" baseline="0" dirty="0" smtClean="0"/>
              <a:t>, </a:t>
            </a:r>
          </a:p>
          <a:p>
            <a:endParaRPr lang="en-CA" baseline="0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62465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proactive protocol that works on the principles of distance vectors.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 basically a extension of RIP protocol. 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each node in a network maintains a distance table that contains the shortest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distance and the address of the next hop router.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a change occurs in the network,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node updates its directly connected neighbours to the least cost distance</a:t>
            </a: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vector. This process continues until convergence.</a:t>
            </a:r>
          </a:p>
          <a:p>
            <a:endParaRPr lang="en-CA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 to the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259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813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716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CA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4507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EA2DA-D66D-415A-A3F1-4EA806854155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582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21-Jun-16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21-Jun-16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CA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A674905-68BD-444A-B42D-44A6C46AFDE3}" type="datetimeFigureOut">
              <a:rPr lang="en-CA" smtClean="0"/>
              <a:t>2016-06-21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39A56AA-9526-437D-AB4A-F2E338354C9C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672" y="980728"/>
            <a:ext cx="6477000" cy="1828800"/>
          </a:xfrm>
        </p:spPr>
        <p:txBody>
          <a:bodyPr>
            <a:normAutofit/>
          </a:bodyPr>
          <a:lstStyle/>
          <a:p>
            <a:r>
              <a:rPr lang="en-CA" dirty="0" smtClean="0"/>
              <a:t>Mobile Ad Hoc Networks (MANET</a:t>
            </a:r>
            <a:r>
              <a:rPr lang="en-CA" cap="none" dirty="0" smtClean="0"/>
              <a:t>s</a:t>
            </a:r>
            <a:r>
              <a:rPr lang="en-CA" dirty="0" smtClean="0"/>
              <a:t>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195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Outline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CA" dirty="0" smtClean="0"/>
              <a:t>Mobile Ad hoc networks.</a:t>
            </a:r>
          </a:p>
          <a:p>
            <a:pPr lvl="1"/>
            <a:r>
              <a:rPr lang="en-CA" dirty="0" smtClean="0"/>
              <a:t>Applications of ad hoc networks. </a:t>
            </a:r>
          </a:p>
          <a:p>
            <a:pPr lvl="1"/>
            <a:r>
              <a:rPr lang="en-CA" dirty="0" smtClean="0"/>
              <a:t>Challenges in Ad hoc network. </a:t>
            </a:r>
          </a:p>
          <a:p>
            <a:pPr lvl="1"/>
            <a:r>
              <a:rPr lang="en-CA" dirty="0" smtClean="0"/>
              <a:t>Media Access Control </a:t>
            </a:r>
          </a:p>
          <a:p>
            <a:pPr lvl="1"/>
            <a:r>
              <a:rPr lang="en-CA" dirty="0" smtClean="0"/>
              <a:t>Routing algorithms for MANETs.</a:t>
            </a:r>
          </a:p>
          <a:p>
            <a:pPr lvl="1"/>
            <a:r>
              <a:rPr lang="en-CA" dirty="0" smtClean="0"/>
              <a:t>Conclusion.</a:t>
            </a:r>
          </a:p>
          <a:p>
            <a:pPr marL="320040" lvl="1" indent="0">
              <a:buNone/>
            </a:pP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916213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Introduction</a:t>
            </a:r>
            <a:r>
              <a:rPr lang="en-CA" dirty="0" smtClean="0"/>
              <a:t>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/>
              <a:t>An </a:t>
            </a:r>
            <a:r>
              <a:rPr lang="en-US" b="1" dirty="0"/>
              <a:t>ad hoc network</a:t>
            </a:r>
            <a:r>
              <a:rPr lang="en-US" dirty="0"/>
              <a:t> is a </a:t>
            </a:r>
            <a:r>
              <a:rPr lang="en-US" b="1" dirty="0"/>
              <a:t>network</a:t>
            </a:r>
            <a:r>
              <a:rPr lang="en-US" dirty="0"/>
              <a:t> that is composed of individual devices communicating with each other directly.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term implies spontaneous or </a:t>
            </a:r>
            <a:r>
              <a:rPr lang="en-US" dirty="0" smtClean="0"/>
              <a:t>unprepared </a:t>
            </a:r>
            <a:r>
              <a:rPr lang="en-US" dirty="0"/>
              <a:t>construction because these </a:t>
            </a:r>
            <a:r>
              <a:rPr lang="en-US" b="1" dirty="0"/>
              <a:t>networks</a:t>
            </a:r>
            <a:r>
              <a:rPr lang="en-US" dirty="0"/>
              <a:t> often bypass the gatekeeping hardware or central access point such as a router.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06803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Mobile Ad hoc networks (MANETs)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Mobile ad hoc networks are formed dynamically by an autonomous system of mobile nodes that are connected via wireless links.</a:t>
            </a:r>
          </a:p>
          <a:p>
            <a:r>
              <a:rPr lang="en-CA" dirty="0"/>
              <a:t>No </a:t>
            </a:r>
            <a:r>
              <a:rPr lang="en-CA" dirty="0" smtClean="0"/>
              <a:t>existing fixed infrastructure </a:t>
            </a:r>
            <a:r>
              <a:rPr lang="en-CA" dirty="0"/>
              <a:t>or centralized administration – No base station. </a:t>
            </a:r>
          </a:p>
          <a:p>
            <a:r>
              <a:rPr lang="en-CA" dirty="0"/>
              <a:t>Mobile nodes are free to move randomly. </a:t>
            </a:r>
          </a:p>
          <a:p>
            <a:pPr lvl="1"/>
            <a:r>
              <a:rPr lang="en-CA" dirty="0"/>
              <a:t>Network topology changes frequently. </a:t>
            </a:r>
          </a:p>
          <a:p>
            <a:r>
              <a:rPr lang="en-CA" dirty="0"/>
              <a:t>May Operate as standalone fashion or also can be connected to the larger internet. </a:t>
            </a:r>
          </a:p>
          <a:p>
            <a:r>
              <a:rPr lang="en-CA" dirty="0"/>
              <a:t> Each node work as router. </a:t>
            </a:r>
          </a:p>
          <a:p>
            <a:pPr marL="0" indent="0">
              <a:buNone/>
            </a:pPr>
            <a:endParaRPr lang="en-CA" baseline="-25000" dirty="0"/>
          </a:p>
        </p:txBody>
      </p:sp>
    </p:spTree>
    <p:extLst>
      <p:ext uri="{BB962C8B-B14F-4D97-AF65-F5344CB8AC3E}">
        <p14:creationId xmlns:p14="http://schemas.microsoft.com/office/powerpoint/2010/main" val="60000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MANETs</a:t>
            </a:r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60" y="2114446"/>
            <a:ext cx="3979446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http://www.h3c.com/portal/res/200909/17/20090917_843607_image012_648837_1285_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46" y="3014546"/>
            <a:ext cx="3456384" cy="289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93477" y="4146051"/>
            <a:ext cx="108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MANETs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6138032" y="6237312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WLAN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931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Applications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 smtClean="0"/>
              <a:t>Tactical networks	</a:t>
            </a:r>
            <a:endParaRPr lang="en-CA" dirty="0"/>
          </a:p>
          <a:p>
            <a:pPr lvl="1"/>
            <a:r>
              <a:rPr lang="en-CA" dirty="0"/>
              <a:t>Military communication, automated battlefields </a:t>
            </a:r>
            <a:endParaRPr lang="en-CA" dirty="0" smtClean="0"/>
          </a:p>
          <a:p>
            <a:r>
              <a:rPr lang="en-CA" dirty="0" smtClean="0"/>
              <a:t>Emergency Services</a:t>
            </a:r>
          </a:p>
          <a:p>
            <a:pPr lvl="1"/>
            <a:r>
              <a:rPr lang="en-CA" dirty="0" smtClean="0"/>
              <a:t>Search </a:t>
            </a:r>
            <a:r>
              <a:rPr lang="en-CA" dirty="0"/>
              <a:t>and rescue operations</a:t>
            </a:r>
          </a:p>
          <a:p>
            <a:pPr lvl="1"/>
            <a:r>
              <a:rPr lang="en-CA" dirty="0"/>
              <a:t>Disaster </a:t>
            </a:r>
            <a:r>
              <a:rPr lang="en-CA" dirty="0" smtClean="0"/>
              <a:t>recovery – Earthquakes, hurricanes .</a:t>
            </a:r>
          </a:p>
          <a:p>
            <a:r>
              <a:rPr lang="en-CA" dirty="0"/>
              <a:t>Educational</a:t>
            </a:r>
          </a:p>
          <a:p>
            <a:pPr lvl="1"/>
            <a:r>
              <a:rPr lang="en-CA" dirty="0"/>
              <a:t>Virtual classrooms or conference rooms.</a:t>
            </a:r>
          </a:p>
          <a:p>
            <a:pPr lvl="1"/>
            <a:r>
              <a:rPr lang="en-CA" dirty="0"/>
              <a:t>Set up ad hoc communication during conferences, meeting, or </a:t>
            </a:r>
            <a:r>
              <a:rPr lang="en-CA" dirty="0" smtClean="0"/>
              <a:t>lectures</a:t>
            </a:r>
          </a:p>
          <a:p>
            <a:r>
              <a:rPr lang="en-CA" dirty="0" smtClean="0"/>
              <a:t>Home and Entertainment </a:t>
            </a:r>
          </a:p>
          <a:p>
            <a:pPr lvl="1"/>
            <a:r>
              <a:rPr lang="en-CA" dirty="0" smtClean="0"/>
              <a:t>Home/office wireless networking.</a:t>
            </a:r>
          </a:p>
          <a:p>
            <a:pPr lvl="1"/>
            <a:r>
              <a:rPr lang="en-CA" dirty="0" smtClean="0"/>
              <a:t>Personal Area network </a:t>
            </a:r>
          </a:p>
          <a:p>
            <a:pPr lvl="1"/>
            <a:r>
              <a:rPr lang="en-CA" dirty="0" smtClean="0"/>
              <a:t>Multiuser games</a:t>
            </a:r>
          </a:p>
          <a:p>
            <a:pPr lvl="1"/>
            <a:r>
              <a:rPr lang="en-CA" dirty="0" smtClean="0"/>
              <a:t>Outdoor internet access.</a:t>
            </a:r>
          </a:p>
          <a:p>
            <a:pPr lvl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49746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Challenges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 smtClean="0"/>
              <a:t>Infrastructure less </a:t>
            </a:r>
          </a:p>
          <a:p>
            <a:pPr lvl="1"/>
            <a:r>
              <a:rPr lang="en-CA" dirty="0" smtClean="0"/>
              <a:t>Brings new network designing challenges.</a:t>
            </a:r>
          </a:p>
          <a:p>
            <a:r>
              <a:rPr lang="en-CA" dirty="0" smtClean="0"/>
              <a:t>Dynamically changing topologies</a:t>
            </a:r>
          </a:p>
          <a:p>
            <a:pPr lvl="1"/>
            <a:r>
              <a:rPr lang="en-CA" dirty="0" smtClean="0"/>
              <a:t>Cause route changes, frequent network partitions and packet loss.</a:t>
            </a:r>
          </a:p>
          <a:p>
            <a:r>
              <a:rPr lang="en-CA" dirty="0" smtClean="0"/>
              <a:t>Physical layer limitations</a:t>
            </a:r>
          </a:p>
          <a:p>
            <a:pPr lvl="1"/>
            <a:r>
              <a:rPr lang="en-CA" dirty="0" smtClean="0"/>
              <a:t>Limited Wireless range. </a:t>
            </a:r>
          </a:p>
          <a:p>
            <a:pPr lvl="1"/>
            <a:r>
              <a:rPr lang="en-CA" dirty="0" smtClean="0"/>
              <a:t>Packet loss during transmission.</a:t>
            </a:r>
          </a:p>
          <a:p>
            <a:pPr lvl="1"/>
            <a:r>
              <a:rPr lang="en-CA" dirty="0" smtClean="0"/>
              <a:t>Broadcast nature of the communication.</a:t>
            </a:r>
          </a:p>
          <a:p>
            <a:r>
              <a:rPr lang="en-CA" dirty="0" smtClean="0"/>
              <a:t>Limitations of Mobile Nodes</a:t>
            </a:r>
          </a:p>
          <a:p>
            <a:pPr lvl="1"/>
            <a:r>
              <a:rPr lang="en-CA" dirty="0" smtClean="0"/>
              <a:t>Short battery life</a:t>
            </a:r>
          </a:p>
          <a:p>
            <a:pPr lvl="1"/>
            <a:r>
              <a:rPr lang="en-CA" dirty="0" smtClean="0"/>
              <a:t>Limited capacities. </a:t>
            </a:r>
            <a:endParaRPr lang="en-CA" dirty="0"/>
          </a:p>
          <a:p>
            <a:r>
              <a:rPr lang="en-CA" dirty="0" smtClean="0"/>
              <a:t>Network security. </a:t>
            </a:r>
          </a:p>
        </p:txBody>
      </p:sp>
    </p:spTree>
    <p:extLst>
      <p:ext uri="{BB962C8B-B14F-4D97-AF65-F5344CB8AC3E}">
        <p14:creationId xmlns:p14="http://schemas.microsoft.com/office/powerpoint/2010/main" val="350260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Effects on the protocol stack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smtClean="0"/>
              <a:t>Application Layer</a:t>
            </a:r>
          </a:p>
          <a:p>
            <a:pPr lvl="1"/>
            <a:r>
              <a:rPr lang="en-CA" dirty="0" smtClean="0"/>
              <a:t>New applications, Authentication, Encryption. </a:t>
            </a:r>
          </a:p>
          <a:p>
            <a:r>
              <a:rPr lang="en-CA" dirty="0" smtClean="0"/>
              <a:t>Transport Layer</a:t>
            </a:r>
          </a:p>
          <a:p>
            <a:pPr lvl="1"/>
            <a:r>
              <a:rPr lang="en-CA" dirty="0" smtClean="0"/>
              <a:t>Congestion Control, Flow control.</a:t>
            </a:r>
          </a:p>
          <a:p>
            <a:r>
              <a:rPr lang="en-CA" dirty="0" smtClean="0"/>
              <a:t>Network </a:t>
            </a:r>
          </a:p>
          <a:p>
            <a:pPr lvl="1"/>
            <a:r>
              <a:rPr lang="en-CA" dirty="0" smtClean="0"/>
              <a:t>Host addressing, Routing, Multicasting.  </a:t>
            </a:r>
          </a:p>
          <a:p>
            <a:r>
              <a:rPr lang="en-CA" dirty="0" smtClean="0"/>
              <a:t>Data Link Layer</a:t>
            </a:r>
          </a:p>
          <a:p>
            <a:pPr lvl="1"/>
            <a:r>
              <a:rPr lang="en-CA" dirty="0" smtClean="0"/>
              <a:t>Media Access</a:t>
            </a:r>
          </a:p>
          <a:p>
            <a:r>
              <a:rPr lang="en-CA" dirty="0" smtClean="0"/>
              <a:t>Physical </a:t>
            </a:r>
          </a:p>
          <a:p>
            <a:pPr lvl="1"/>
            <a:r>
              <a:rPr lang="en-CA" dirty="0" smtClean="0"/>
              <a:t>Spectrum usage/allocation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686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Media Access Control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Since MANETs, use broadcasting and shared transmission media, introduces a probability of packet collisions and media contention. </a:t>
            </a:r>
          </a:p>
          <a:p>
            <a:r>
              <a:rPr lang="en-CA" dirty="0" smtClean="0"/>
              <a:t>Since collision detection is not possible with half-duplex radio. This brings new challenges to conventional CSMA/CD-based and MAC based protocols.</a:t>
            </a:r>
          </a:p>
          <a:p>
            <a:r>
              <a:rPr lang="en-CA" dirty="0" smtClean="0"/>
              <a:t>Among the top issues are the hidden-terminal and exposed-terminal problems. </a:t>
            </a:r>
          </a:p>
          <a:p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77647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Hidden-terminal problem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When two terminals can not detect each other’s transmission due to being outside of each others range. The collision can occur. </a:t>
            </a:r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068960"/>
            <a:ext cx="464820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504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Exposed-terminal problems.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Occur when a permissible transmission from a node to another node has to be delayed due to the irrelevant transmission between two other nodes.</a:t>
            </a:r>
            <a:endParaRPr lang="en-C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301019"/>
            <a:ext cx="4554691" cy="2919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73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Solution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A new protocol </a:t>
            </a:r>
            <a:r>
              <a:rPr lang="en-CA" b="1" dirty="0" smtClean="0"/>
              <a:t>MACA </a:t>
            </a:r>
            <a:r>
              <a:rPr lang="en-CA" dirty="0"/>
              <a:t>(multiple access with collision </a:t>
            </a:r>
            <a:r>
              <a:rPr lang="en-CA" dirty="0" smtClean="0"/>
              <a:t>avoidance protocol) is used to avoid the Hidden-terminal and Exposed-terminal problems.</a:t>
            </a:r>
          </a:p>
          <a:p>
            <a:r>
              <a:rPr lang="en-CA" dirty="0" smtClean="0"/>
              <a:t>Use signalling packets to avoid collision. </a:t>
            </a:r>
          </a:p>
          <a:p>
            <a:pPr lvl="1"/>
            <a:r>
              <a:rPr lang="en-CA" dirty="0" smtClean="0"/>
              <a:t>RTS (Request to send)</a:t>
            </a:r>
          </a:p>
          <a:p>
            <a:pPr lvl="2"/>
            <a:r>
              <a:rPr lang="en-CA" dirty="0" smtClean="0"/>
              <a:t>Sender request the right to send from a receiver with a short RTS packet before it sends a data packet. </a:t>
            </a:r>
          </a:p>
          <a:p>
            <a:pPr lvl="1"/>
            <a:r>
              <a:rPr lang="en-CA" dirty="0" smtClean="0"/>
              <a:t>CTS (Clear to send)</a:t>
            </a:r>
          </a:p>
          <a:p>
            <a:pPr lvl="2"/>
            <a:r>
              <a:rPr lang="en-CA" dirty="0" smtClean="0"/>
              <a:t>Receiver grants the right to send as soon as it is ready to receive</a:t>
            </a:r>
          </a:p>
          <a:p>
            <a:pPr lvl="2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8648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Routing In MANETs </a:t>
            </a:r>
            <a:endParaRPr lang="en-CA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47047"/>
            <a:ext cx="7772400" cy="316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21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Routing in Ad Hoc Networks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smtClean="0"/>
              <a:t>Mobile nodes operate as routers. </a:t>
            </a:r>
          </a:p>
          <a:p>
            <a:r>
              <a:rPr lang="en-CA" dirty="0" smtClean="0"/>
              <a:t>Proactive Protocol – Table Based</a:t>
            </a:r>
          </a:p>
          <a:p>
            <a:pPr lvl="1"/>
            <a:r>
              <a:rPr lang="en-CA" dirty="0" smtClean="0"/>
              <a:t>Maintain </a:t>
            </a:r>
            <a:r>
              <a:rPr lang="en-CA" dirty="0"/>
              <a:t>routes between every host pair all the </a:t>
            </a:r>
            <a:r>
              <a:rPr lang="en-CA" dirty="0" smtClean="0"/>
              <a:t>time</a:t>
            </a:r>
          </a:p>
          <a:p>
            <a:pPr lvl="1"/>
            <a:r>
              <a:rPr lang="en-CA" dirty="0" smtClean="0"/>
              <a:t>Shortest-path protocols</a:t>
            </a:r>
          </a:p>
          <a:p>
            <a:pPr lvl="1"/>
            <a:r>
              <a:rPr lang="en-CA" dirty="0" smtClean="0"/>
              <a:t>Frequently update routing table; High routing overhead.</a:t>
            </a:r>
          </a:p>
          <a:p>
            <a:r>
              <a:rPr lang="en-CA" dirty="0" smtClean="0"/>
              <a:t>Reactive Protocols – On-Demand</a:t>
            </a:r>
          </a:p>
          <a:p>
            <a:pPr lvl="1"/>
            <a:r>
              <a:rPr lang="en-CA" dirty="0" smtClean="0"/>
              <a:t>On-demand </a:t>
            </a:r>
          </a:p>
          <a:p>
            <a:pPr lvl="1"/>
            <a:r>
              <a:rPr lang="en-CA" dirty="0" smtClean="0"/>
              <a:t>Source initiates route discovery. </a:t>
            </a:r>
          </a:p>
          <a:p>
            <a:r>
              <a:rPr lang="en-CA" dirty="0" smtClean="0"/>
              <a:t>Hybrid protocols</a:t>
            </a:r>
          </a:p>
          <a:p>
            <a:pPr lvl="1"/>
            <a:r>
              <a:rPr lang="en-CA" dirty="0" smtClean="0"/>
              <a:t>Combination of proactive and reactive. </a:t>
            </a:r>
          </a:p>
          <a:p>
            <a:pPr lvl="1"/>
            <a:endParaRPr lang="en-CA" dirty="0" smtClean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1795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Destination-Sequenced Distance-Vector (DSDV</a:t>
            </a:r>
            <a:r>
              <a:rPr lang="en-US" dirty="0" smtClean="0"/>
              <a:t>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 smtClean="0"/>
              <a:t>Adapted from Routing Information Protocol(RIP). </a:t>
            </a:r>
          </a:p>
          <a:p>
            <a:pPr lvl="1"/>
            <a:r>
              <a:rPr lang="en-CA" dirty="0" smtClean="0"/>
              <a:t>Adds new attribute- </a:t>
            </a:r>
            <a:r>
              <a:rPr lang="en-CA" b="1" dirty="0" smtClean="0"/>
              <a:t>Sequence Number</a:t>
            </a:r>
          </a:p>
          <a:p>
            <a:r>
              <a:rPr lang="en-CA" dirty="0" smtClean="0"/>
              <a:t>Each node maintains a routing table which stores </a:t>
            </a:r>
          </a:p>
          <a:p>
            <a:pPr lvl="1"/>
            <a:r>
              <a:rPr lang="en-CA" dirty="0" smtClean="0"/>
              <a:t>Next hop</a:t>
            </a:r>
          </a:p>
          <a:p>
            <a:pPr lvl="1"/>
            <a:r>
              <a:rPr lang="en-CA" dirty="0" smtClean="0"/>
              <a:t>Cost matric for each destination</a:t>
            </a:r>
          </a:p>
          <a:p>
            <a:pPr lvl="1"/>
            <a:r>
              <a:rPr lang="en-CA" dirty="0" smtClean="0"/>
              <a:t>A sequence number that is create by destination itself.</a:t>
            </a:r>
          </a:p>
          <a:p>
            <a:r>
              <a:rPr lang="en-CA" dirty="0" smtClean="0"/>
              <a:t>Each node advertises a monotonically increasing even sequence number.</a:t>
            </a:r>
          </a:p>
          <a:p>
            <a:pPr lvl="1"/>
            <a:r>
              <a:rPr lang="en-CA" dirty="0" smtClean="0"/>
              <a:t>Used to update path to destination node. </a:t>
            </a:r>
          </a:p>
          <a:p>
            <a:pPr lvl="1"/>
            <a:r>
              <a:rPr lang="en-CA" dirty="0" smtClean="0"/>
              <a:t>Odd sequence number used to represent broken path. </a:t>
            </a:r>
          </a:p>
          <a:p>
            <a:r>
              <a:rPr lang="en-CA" dirty="0" smtClean="0"/>
              <a:t>Routing table updates are transmitted periodically.</a:t>
            </a:r>
          </a:p>
          <a:p>
            <a:r>
              <a:rPr lang="en-CA" dirty="0" smtClean="0"/>
              <a:t>Routing information is transmitted by broadcast. </a:t>
            </a:r>
          </a:p>
        </p:txBody>
      </p:sp>
    </p:spTree>
    <p:extLst>
      <p:ext uri="{BB962C8B-B14F-4D97-AF65-F5344CB8AC3E}">
        <p14:creationId xmlns:p14="http://schemas.microsoft.com/office/powerpoint/2010/main" val="354347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</a:t>
            </a:r>
            <a:r>
              <a:rPr lang="en-US" dirty="0"/>
              <a:t>Source Routing (DSR)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 smtClean="0"/>
              <a:t>DSR is a type of </a:t>
            </a:r>
            <a:r>
              <a:rPr lang="en-US" b="1" dirty="0"/>
              <a:t>Reactive Routing </a:t>
            </a:r>
            <a:r>
              <a:rPr lang="en-US" b="1" dirty="0" smtClean="0"/>
              <a:t>Protocols.</a:t>
            </a:r>
          </a:p>
          <a:p>
            <a:r>
              <a:rPr lang="en-US" b="1" dirty="0" smtClean="0"/>
              <a:t>On demand </a:t>
            </a:r>
            <a:r>
              <a:rPr lang="en-US" dirty="0" smtClean="0"/>
              <a:t>Protocol</a:t>
            </a:r>
            <a:endParaRPr lang="en-US" b="1" dirty="0" smtClean="0"/>
          </a:p>
          <a:p>
            <a:r>
              <a:rPr lang="en-US" dirty="0" smtClean="0"/>
              <a:t>Source node initiate </a:t>
            </a:r>
            <a:r>
              <a:rPr lang="en-US" b="1" dirty="0" smtClean="0"/>
              <a:t>route discovery</a:t>
            </a:r>
            <a:r>
              <a:rPr lang="en-US" dirty="0" smtClean="0"/>
              <a:t>. </a:t>
            </a:r>
            <a:endParaRPr lang="en-US" b="1" dirty="0" smtClean="0"/>
          </a:p>
          <a:p>
            <a:r>
              <a:rPr lang="en-US" dirty="0" smtClean="0"/>
              <a:t>Source node floods </a:t>
            </a:r>
            <a:r>
              <a:rPr lang="en-US" b="1" dirty="0" smtClean="0"/>
              <a:t>Route Request (RREQ) </a:t>
            </a:r>
            <a:r>
              <a:rPr lang="en-US" dirty="0" smtClean="0"/>
              <a:t>in the network. </a:t>
            </a:r>
          </a:p>
          <a:p>
            <a:r>
              <a:rPr lang="en-US" dirty="0" smtClean="0"/>
              <a:t>Use broadcast method to send RREQ.</a:t>
            </a:r>
          </a:p>
          <a:p>
            <a:r>
              <a:rPr lang="en-US" dirty="0" smtClean="0"/>
              <a:t>Route request use a sequence number and path it traversed. </a:t>
            </a:r>
          </a:p>
          <a:p>
            <a:pPr lvl="1"/>
            <a:r>
              <a:rPr lang="en-US" dirty="0" smtClean="0"/>
              <a:t>Sequence number is used to identified the request; to avoid looping.  </a:t>
            </a:r>
          </a:p>
          <a:p>
            <a:endParaRPr lang="en-US" dirty="0" smtClean="0"/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29342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Cont’d 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The indented receiver sends a </a:t>
            </a:r>
            <a:r>
              <a:rPr lang="en-CA" b="1" dirty="0" smtClean="0"/>
              <a:t>Route Reply (RREP).</a:t>
            </a:r>
          </a:p>
          <a:p>
            <a:r>
              <a:rPr lang="en-CA" dirty="0" smtClean="0"/>
              <a:t>The receiver uses the reverse order of path in the Route Request to send the RREP. </a:t>
            </a:r>
          </a:p>
          <a:p>
            <a:r>
              <a:rPr lang="en-CA" dirty="0" smtClean="0"/>
              <a:t>Source use received path to send data.</a:t>
            </a:r>
          </a:p>
          <a:p>
            <a:r>
              <a:rPr lang="en-CA" dirty="0" smtClean="0"/>
              <a:t>Route may saved in source`s cache for future use</a:t>
            </a:r>
            <a:r>
              <a:rPr lang="en-CA" smtClean="0"/>
              <a:t>. </a:t>
            </a:r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553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CA" dirty="0" smtClean="0"/>
          </a:p>
          <a:p>
            <a:endParaRPr lang="en-C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481138"/>
            <a:ext cx="701992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375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</a:t>
            </a:r>
            <a:endParaRPr lang="en-C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481138"/>
            <a:ext cx="701992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359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</a:t>
            </a:r>
            <a:endParaRPr lang="en-C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481138"/>
            <a:ext cx="703897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361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</a:t>
            </a:r>
            <a:endParaRPr lang="en-CA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476375"/>
            <a:ext cx="7038975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21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</a:t>
            </a:r>
            <a:endParaRPr lang="en-CA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476375"/>
            <a:ext cx="7038975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319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</a:t>
            </a:r>
            <a:endParaRPr lang="en-CA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476375"/>
            <a:ext cx="7038975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07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DSR (Reply)</a:t>
            </a:r>
            <a:endParaRPr lang="en-CA" dirty="0"/>
          </a:p>
        </p:txBody>
      </p:sp>
      <p:grpSp>
        <p:nvGrpSpPr>
          <p:cNvPr id="4" name="Group 3"/>
          <p:cNvGrpSpPr/>
          <p:nvPr/>
        </p:nvGrpSpPr>
        <p:grpSpPr>
          <a:xfrm>
            <a:off x="1066800" y="1485900"/>
            <a:ext cx="7010400" cy="3886200"/>
            <a:chOff x="1447800" y="1143000"/>
            <a:chExt cx="7010400" cy="3886200"/>
          </a:xfrm>
        </p:grpSpPr>
        <p:sp>
          <p:nvSpPr>
            <p:cNvPr id="5" name="Oval 3" descr="Water droplets"/>
            <p:cNvSpPr>
              <a:spLocks noChangeArrowheads="1"/>
            </p:cNvSpPr>
            <p:nvPr/>
          </p:nvSpPr>
          <p:spPr bwMode="auto">
            <a:xfrm>
              <a:off x="2209800" y="28956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B</a:t>
              </a:r>
            </a:p>
          </p:txBody>
        </p:sp>
        <p:sp>
          <p:nvSpPr>
            <p:cNvPr id="6" name="Oval 4" descr="Water droplets"/>
            <p:cNvSpPr>
              <a:spLocks noChangeArrowheads="1"/>
            </p:cNvSpPr>
            <p:nvPr/>
          </p:nvSpPr>
          <p:spPr bwMode="auto">
            <a:xfrm>
              <a:off x="1447800" y="35814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A</a:t>
              </a:r>
            </a:p>
          </p:txBody>
        </p:sp>
        <p:sp>
          <p:nvSpPr>
            <p:cNvPr id="7" name="Oval 5" descr="Water droplets"/>
            <p:cNvSpPr>
              <a:spLocks noChangeArrowheads="1"/>
            </p:cNvSpPr>
            <p:nvPr/>
          </p:nvSpPr>
          <p:spPr bwMode="auto">
            <a:xfrm>
              <a:off x="3124200" y="22860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S</a:t>
              </a:r>
            </a:p>
          </p:txBody>
        </p:sp>
        <p:sp>
          <p:nvSpPr>
            <p:cNvPr id="8" name="Oval 6" descr="Water droplets"/>
            <p:cNvSpPr>
              <a:spLocks noChangeArrowheads="1"/>
            </p:cNvSpPr>
            <p:nvPr/>
          </p:nvSpPr>
          <p:spPr bwMode="auto">
            <a:xfrm>
              <a:off x="4114800" y="23622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E</a:t>
              </a:r>
            </a:p>
          </p:txBody>
        </p:sp>
        <p:sp>
          <p:nvSpPr>
            <p:cNvPr id="9" name="Oval 7" descr="Water droplets"/>
            <p:cNvSpPr>
              <a:spLocks noChangeArrowheads="1"/>
            </p:cNvSpPr>
            <p:nvPr/>
          </p:nvSpPr>
          <p:spPr bwMode="auto">
            <a:xfrm>
              <a:off x="5105400" y="27432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F</a:t>
              </a:r>
            </a:p>
          </p:txBody>
        </p:sp>
        <p:sp>
          <p:nvSpPr>
            <p:cNvPr id="10" name="Oval 8" descr="Water droplets"/>
            <p:cNvSpPr>
              <a:spLocks noChangeArrowheads="1"/>
            </p:cNvSpPr>
            <p:nvPr/>
          </p:nvSpPr>
          <p:spPr bwMode="auto">
            <a:xfrm>
              <a:off x="2667000" y="38862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H</a:t>
              </a:r>
            </a:p>
          </p:txBody>
        </p:sp>
        <p:sp>
          <p:nvSpPr>
            <p:cNvPr id="11" name="Oval 9" descr="Water droplets"/>
            <p:cNvSpPr>
              <a:spLocks noChangeArrowheads="1"/>
            </p:cNvSpPr>
            <p:nvPr/>
          </p:nvSpPr>
          <p:spPr bwMode="auto">
            <a:xfrm>
              <a:off x="5943600" y="32766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J</a:t>
              </a:r>
            </a:p>
          </p:txBody>
        </p:sp>
        <p:sp>
          <p:nvSpPr>
            <p:cNvPr id="12" name="Oval 10" descr="Water droplets"/>
            <p:cNvSpPr>
              <a:spLocks noChangeArrowheads="1"/>
            </p:cNvSpPr>
            <p:nvPr/>
          </p:nvSpPr>
          <p:spPr bwMode="auto">
            <a:xfrm>
              <a:off x="6705600" y="38862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D</a:t>
              </a:r>
            </a:p>
          </p:txBody>
        </p:sp>
        <p:sp>
          <p:nvSpPr>
            <p:cNvPr id="13" name="Oval 11" descr="Water droplets"/>
            <p:cNvSpPr>
              <a:spLocks noChangeArrowheads="1"/>
            </p:cNvSpPr>
            <p:nvPr/>
          </p:nvSpPr>
          <p:spPr bwMode="auto">
            <a:xfrm>
              <a:off x="3505200" y="30480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C</a:t>
              </a:r>
            </a:p>
          </p:txBody>
        </p:sp>
        <p:sp>
          <p:nvSpPr>
            <p:cNvPr id="14" name="Oval 12" descr="Water droplets"/>
            <p:cNvSpPr>
              <a:spLocks noChangeArrowheads="1"/>
            </p:cNvSpPr>
            <p:nvPr/>
          </p:nvSpPr>
          <p:spPr bwMode="auto">
            <a:xfrm>
              <a:off x="4572000" y="35814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G</a:t>
              </a:r>
            </a:p>
          </p:txBody>
        </p:sp>
        <p:sp>
          <p:nvSpPr>
            <p:cNvPr id="15" name="Oval 13" descr="Water droplets"/>
            <p:cNvSpPr>
              <a:spLocks noChangeArrowheads="1"/>
            </p:cNvSpPr>
            <p:nvPr/>
          </p:nvSpPr>
          <p:spPr bwMode="auto">
            <a:xfrm>
              <a:off x="3733800" y="44196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I</a:t>
              </a:r>
            </a:p>
          </p:txBody>
        </p:sp>
        <p:sp>
          <p:nvSpPr>
            <p:cNvPr id="16" name="Oval 14" descr="Water droplets"/>
            <p:cNvSpPr>
              <a:spLocks noChangeArrowheads="1"/>
            </p:cNvSpPr>
            <p:nvPr/>
          </p:nvSpPr>
          <p:spPr bwMode="auto">
            <a:xfrm>
              <a:off x="5486400" y="41148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K</a:t>
              </a: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1981200" y="3352800"/>
              <a:ext cx="3048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2743200" y="27432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2057400" y="3962400"/>
              <a:ext cx="6858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667000" y="3429000"/>
              <a:ext cx="22860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H="1">
              <a:off x="3124200" y="3581400"/>
              <a:ext cx="5334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>
              <a:off x="3962400" y="2895600"/>
              <a:ext cx="2286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4724400" y="2743200"/>
              <a:ext cx="457200" cy="1524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>
              <a:off x="50292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4191000" y="4114800"/>
              <a:ext cx="4572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4114800" y="35052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3200400" y="4343400"/>
              <a:ext cx="5334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5638800" y="3200400"/>
              <a:ext cx="381000" cy="1524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5105400" y="4114800"/>
              <a:ext cx="381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6477000" y="3733800"/>
              <a:ext cx="304800" cy="2286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 flipH="1">
              <a:off x="6096000" y="4267200"/>
              <a:ext cx="60960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 flipH="1">
              <a:off x="3733800" y="2590800"/>
              <a:ext cx="381000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3505200" y="2895600"/>
              <a:ext cx="152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4" name="Oval 32"/>
            <p:cNvSpPr>
              <a:spLocks noChangeArrowheads="1"/>
            </p:cNvSpPr>
            <p:nvPr/>
          </p:nvSpPr>
          <p:spPr bwMode="auto">
            <a:xfrm>
              <a:off x="7162800" y="1905000"/>
              <a:ext cx="609600" cy="6096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Z</a:t>
              </a:r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auto">
            <a:xfrm>
              <a:off x="7467600" y="1143000"/>
              <a:ext cx="609600" cy="6096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Y</a:t>
              </a:r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H="1">
              <a:off x="7543800" y="1752600"/>
              <a:ext cx="1524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7" name="Oval 35" descr="Water droplets"/>
            <p:cNvSpPr>
              <a:spLocks noChangeArrowheads="1"/>
            </p:cNvSpPr>
            <p:nvPr/>
          </p:nvSpPr>
          <p:spPr bwMode="auto">
            <a:xfrm>
              <a:off x="6934200" y="30480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M</a:t>
              </a: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auto">
            <a:xfrm>
              <a:off x="7391400" y="4419600"/>
              <a:ext cx="609600" cy="609600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N</a:t>
              </a: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7239000" y="4419600"/>
              <a:ext cx="2286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0" name="Oval 38" descr="Water droplets"/>
            <p:cNvSpPr>
              <a:spLocks noChangeArrowheads="1"/>
            </p:cNvSpPr>
            <p:nvPr/>
          </p:nvSpPr>
          <p:spPr bwMode="auto">
            <a:xfrm>
              <a:off x="7848600" y="3048000"/>
              <a:ext cx="609600" cy="609600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2000" b="1">
                  <a:latin typeface="Arial" charset="0"/>
                </a:rPr>
                <a:t>L</a:t>
              </a: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V="1">
              <a:off x="6553200" y="3352800"/>
              <a:ext cx="3810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7543800" y="33528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4800600" y="2286000"/>
              <a:ext cx="2230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2000" b="1">
                  <a:solidFill>
                    <a:srgbClr val="A50021"/>
                  </a:solidFill>
                  <a:latin typeface="Arial" charset="0"/>
                </a:rPr>
                <a:t>RREP [S,E,F,J,D]</a:t>
              </a:r>
              <a:endParaRPr lang="en-US" sz="2000" b="1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130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Zone Routing Protocol	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A Hybrid Protocol </a:t>
            </a:r>
          </a:p>
          <a:p>
            <a:r>
              <a:rPr lang="en-CA" dirty="0" smtClean="0"/>
              <a:t>ZRP combines both proactive and reactive approach. </a:t>
            </a:r>
          </a:p>
          <a:p>
            <a:r>
              <a:rPr lang="en-CA" dirty="0" smtClean="0"/>
              <a:t>Divide network into non- overlapping routing zones and use independent protocol on different zones.</a:t>
            </a:r>
          </a:p>
          <a:p>
            <a:pPr lvl="1"/>
            <a:r>
              <a:rPr lang="en-CA" b="1" dirty="0" smtClean="0"/>
              <a:t>Intra-zone: </a:t>
            </a:r>
            <a:r>
              <a:rPr lang="en-CA" dirty="0" smtClean="0"/>
              <a:t>Proactive protocols are used.</a:t>
            </a:r>
          </a:p>
          <a:p>
            <a:pPr lvl="1"/>
            <a:r>
              <a:rPr lang="en-CA" b="1" dirty="0" smtClean="0"/>
              <a:t>Inter-zone: </a:t>
            </a:r>
            <a:r>
              <a:rPr lang="en-CA" dirty="0" smtClean="0"/>
              <a:t>Reactive protocols are used. </a:t>
            </a:r>
          </a:p>
          <a:p>
            <a:r>
              <a:rPr lang="en-CA" dirty="0" smtClean="0"/>
              <a:t>Routing zone diameter selected that optimized the routing. 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830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Zone Routing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smtClean="0"/>
              <a:t>Zone radius = 2 </a:t>
            </a:r>
            <a:endParaRPr lang="en-C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693" y="1988840"/>
            <a:ext cx="49339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55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709020" y="3006080"/>
            <a:ext cx="1725960" cy="845840"/>
          </a:xfrm>
        </p:spPr>
        <p:txBody>
          <a:bodyPr/>
          <a:lstStyle/>
          <a:p>
            <a:pPr marL="0" indent="0">
              <a:buNone/>
            </a:pPr>
            <a:r>
              <a:rPr lang="en-CA" dirty="0" smtClean="0"/>
              <a:t>The End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7127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References 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 err="1"/>
              <a:t>Basagni</a:t>
            </a:r>
            <a:r>
              <a:rPr lang="en-CA" dirty="0"/>
              <a:t>, Stefano, Marco Conti, Silvia Giordano, Ivan </a:t>
            </a:r>
            <a:r>
              <a:rPr lang="en-CA" dirty="0" err="1"/>
              <a:t>Stojmenović</a:t>
            </a:r>
            <a:r>
              <a:rPr lang="en-CA" dirty="0"/>
              <a:t>, et al. </a:t>
            </a:r>
            <a:r>
              <a:rPr lang="en-CA" i="1" dirty="0"/>
              <a:t>Mobile Ad Hoc Networking</a:t>
            </a:r>
            <a:r>
              <a:rPr lang="en-CA" dirty="0"/>
              <a:t>. Wiley-IEEE Press, 2004. Print. </a:t>
            </a:r>
            <a:endParaRPr lang="en-CA" dirty="0" smtClean="0"/>
          </a:p>
          <a:p>
            <a:r>
              <a:rPr lang="en-CA" dirty="0" err="1"/>
              <a:t>Iyer</a:t>
            </a:r>
            <a:r>
              <a:rPr lang="en-CA" dirty="0"/>
              <a:t>, Sridhar. </a:t>
            </a:r>
            <a:r>
              <a:rPr lang="en-CA" i="1" dirty="0"/>
              <a:t>Mobile Ad Hoc Networks</a:t>
            </a:r>
            <a:r>
              <a:rPr lang="en-CA" dirty="0"/>
              <a:t>. Bombay: 2000. Web. </a:t>
            </a:r>
            <a:r>
              <a:rPr lang="en-CA" dirty="0" smtClean="0"/>
              <a:t>&lt;www.it.iitb.ac.in</a:t>
            </a:r>
            <a:r>
              <a:rPr lang="en-CA" dirty="0"/>
              <a:t>/~</a:t>
            </a:r>
            <a:r>
              <a:rPr lang="en-CA" dirty="0" smtClean="0"/>
              <a:t>sri/talks/manet.ppt&gt;.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26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1625</TotalTime>
  <Words>2126</Words>
  <Application>Microsoft Office PowerPoint</Application>
  <PresentationFormat>On-screen Show (4:3)</PresentationFormat>
  <Paragraphs>281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Tw Cen MT</vt:lpstr>
      <vt:lpstr>Wingdings</vt:lpstr>
      <vt:lpstr>Wingdings 2</vt:lpstr>
      <vt:lpstr>Median</vt:lpstr>
      <vt:lpstr>Mobile Ad Hoc Networks (MANETs)</vt:lpstr>
      <vt:lpstr>Outline </vt:lpstr>
      <vt:lpstr>Introduction </vt:lpstr>
      <vt:lpstr>Mobile Ad hoc networks (MANETs)</vt:lpstr>
      <vt:lpstr>MANETs</vt:lpstr>
      <vt:lpstr>Applications </vt:lpstr>
      <vt:lpstr>Challenges</vt:lpstr>
      <vt:lpstr>Effects on the protocol stack </vt:lpstr>
      <vt:lpstr>Media Access Control </vt:lpstr>
      <vt:lpstr>Hidden-terminal problem </vt:lpstr>
      <vt:lpstr>Exposed-terminal problems. </vt:lpstr>
      <vt:lpstr>Solution</vt:lpstr>
      <vt:lpstr>Routing In MANETs </vt:lpstr>
      <vt:lpstr>Routing in Ad Hoc Networks</vt:lpstr>
      <vt:lpstr>Destination-Sequenced Distance-Vector (DSDV)</vt:lpstr>
      <vt:lpstr>Dynamic Source Routing (DSR)</vt:lpstr>
      <vt:lpstr>Cont’d  </vt:lpstr>
      <vt:lpstr>DSR </vt:lpstr>
      <vt:lpstr>DSR</vt:lpstr>
      <vt:lpstr>DSR</vt:lpstr>
      <vt:lpstr>DSR</vt:lpstr>
      <vt:lpstr>DSR</vt:lpstr>
      <vt:lpstr>DSR</vt:lpstr>
      <vt:lpstr>DSR (Reply)</vt:lpstr>
      <vt:lpstr>Zone Routing Protocol </vt:lpstr>
      <vt:lpstr>Zone Routing Protocol</vt:lpstr>
      <vt:lpstr>PowerPoint Presentation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Jagdeep</dc:creator>
  <cp:lastModifiedBy>Jay Haule</cp:lastModifiedBy>
  <cp:revision>62</cp:revision>
  <dcterms:created xsi:type="dcterms:W3CDTF">2013-03-19T00:58:56Z</dcterms:created>
  <dcterms:modified xsi:type="dcterms:W3CDTF">2016-06-21T13:51:59Z</dcterms:modified>
</cp:coreProperties>
</file>